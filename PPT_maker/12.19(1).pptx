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74" r:id="rId4"/>
    <p:sldId id="275" r:id="rId6"/>
    <p:sldId id="280" r:id="rId7"/>
    <p:sldId id="283" r:id="rId8"/>
    <p:sldId id="284" r:id="rId9"/>
    <p:sldId id="285" r:id="rId10"/>
    <p:sldId id="286" r:id="rId11"/>
    <p:sldId id="261" r:id="rId12"/>
    <p:sldId id="265" r:id="rId13"/>
    <p:sldId id="278" r:id="rId14"/>
  </p:sldIdLst>
  <p:sldSz cx="10691495" cy="7556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608" initials="E" lastIdx="0" clrIdx="0"/>
  <p:cmAuthor id="2" name="Chen Liu" initials="CL" lastIdx="0" clrIdx="1"/>
  <p:cmAuthor id="3" name="利 陈" initials="利陈" lastIdx="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C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5-12-22T11:20:59.510" idx="4">
    <p:pos x="5785" y="1227"/>
    <p:text>主要体现响应度，我们这个光电探测器，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5-12-22T11:20:25.616" idx="3">
    <p:pos x="2855" y="2588"/>
    <p:text>上述标红的地方我感觉不对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5-12-22T11:15:29.999" idx="1">
    <p:pos x="4785" y="657"/>
    <p:text>最好能体现响应度和带宽提升的思路，PIN和APD分开讲。举个例子，提出了PIN光电探测器，响应度和带宽多少，然后下一个工作，通过什么设计，将响应度和带宽提高到了.......。以响应度和带宽提升的方案、思路去讲文献调研，不是放一篇文献就行，需要了解整个行业发展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5-12-22T11:19:56.922" idx="2">
    <p:pos x="3631" y="484"/>
    <p:text>后面需要添加你自己做的仿真吧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5466" y="1143000"/>
            <a:ext cx="436706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这个是数字光接收机示意图，分为三部分。信号从左侧光纤进来，第一关就是</a:t>
            </a:r>
            <a:r>
              <a:rPr lang="en-US" altLang="zh-CN" dirty="0"/>
              <a:t> PD</a:t>
            </a:r>
            <a:r>
              <a:rPr lang="zh-CN" altLang="en-US" dirty="0"/>
              <a:t>，如果这里引入了噪声或带宽不足，后面的放大器和滤波器都无法挽回。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 </a:t>
            </a:r>
            <a:r>
              <a:rPr lang="zh-CN" altLang="en-US" dirty="0"/>
              <a:t>在</a:t>
            </a:r>
            <a:r>
              <a:rPr lang="en-US" altLang="zh-CN" dirty="0"/>
              <a:t> 1.1 </a:t>
            </a:r>
            <a:r>
              <a:rPr lang="zh-CN" altLang="en-US" dirty="0"/>
              <a:t>微米就截止了，无法探测通信波段（</a:t>
            </a:r>
            <a:r>
              <a:rPr lang="en-US" altLang="zh-CN" dirty="0"/>
              <a:t>1.3/1.55</a:t>
            </a:r>
            <a:r>
              <a:rPr lang="zh-CN" altLang="en-US" dirty="0"/>
              <a:t>）。</a:t>
            </a:r>
            <a:r>
              <a:rPr lang="en-US" altLang="zh-CN" dirty="0"/>
              <a:t>Ge</a:t>
            </a:r>
            <a:r>
              <a:rPr lang="zh-CN" altLang="en-US" dirty="0"/>
              <a:t>不仅覆盖了这些波段，而且吸收系数高达</a:t>
            </a:r>
            <a:r>
              <a:rPr lang="en-US" altLang="zh-CN" dirty="0"/>
              <a:t> 10^4</a:t>
            </a:r>
            <a:r>
              <a:rPr lang="zh-CN" altLang="en-US" dirty="0"/>
              <a:t>（左轴），这意味着我们只需要几微米厚的</a:t>
            </a:r>
            <a:r>
              <a:rPr lang="en-US" altLang="zh-CN" dirty="0"/>
              <a:t> Ge </a:t>
            </a:r>
            <a:r>
              <a:rPr lang="zh-CN" altLang="en-US" dirty="0"/>
              <a:t>就能实现光的高效吸收，这对于高速集成非常有利。对比</a:t>
            </a:r>
            <a:r>
              <a:rPr lang="en-US" altLang="zh-CN" dirty="0"/>
              <a:t> InGaAs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虽然</a:t>
            </a:r>
            <a:r>
              <a:rPr lang="en-US" altLang="zh-CN" dirty="0"/>
              <a:t> InGaAs</a:t>
            </a:r>
            <a:r>
              <a:rPr lang="zh-CN" altLang="en-US" dirty="0"/>
              <a:t>（右边那条线）截止特性更陡峭，但</a:t>
            </a:r>
            <a:r>
              <a:rPr lang="en-US" altLang="zh-CN" dirty="0"/>
              <a:t> Ge </a:t>
            </a:r>
            <a:r>
              <a:rPr lang="zh-CN" altLang="en-US" dirty="0"/>
              <a:t>与硅工艺兼容，这是我们选择</a:t>
            </a:r>
            <a:r>
              <a:rPr lang="en-US" altLang="zh-CN" dirty="0"/>
              <a:t> Ge </a:t>
            </a:r>
            <a:r>
              <a:rPr lang="zh-CN" altLang="en-US" dirty="0"/>
              <a:t>材料的核心原因。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耦合效率高且稳定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大幅降低了封装难度和光路调试成本，避免了边入射结构中常见的“模场失配”损耗。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目前针对</a:t>
            </a:r>
            <a:r>
              <a:rPr lang="en-US" altLang="zh-CN"/>
              <a:t> Ge/Si </a:t>
            </a:r>
            <a:r>
              <a:rPr lang="zh-CN" altLang="en-US"/>
              <a:t>探测器的主流优化路线主要可以归纳为两部分：电学优化和光学优化。电学优化主要侧重于载流子的输运效率与增益机制，目的是让信号</a:t>
            </a:r>
            <a:r>
              <a:rPr lang="en-US" altLang="zh-CN"/>
              <a:t>“</a:t>
            </a:r>
            <a:r>
              <a:rPr lang="zh-CN" altLang="en-US"/>
              <a:t>跑得更快、放得更大</a:t>
            </a:r>
            <a:r>
              <a:rPr lang="en-US" altLang="zh-CN"/>
              <a:t>”</a:t>
            </a:r>
            <a:r>
              <a:rPr lang="zh-CN" altLang="en-US"/>
              <a:t>；而光学优化主要侧重于光与物质的相互作用，利用陷光结构，目的是让光</a:t>
            </a:r>
            <a:r>
              <a:rPr lang="en-US" altLang="zh-CN"/>
              <a:t>“</a:t>
            </a:r>
            <a:r>
              <a:rPr lang="zh-CN" altLang="en-US"/>
              <a:t>吸得更多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首先，我调研的第一部分主要集中在器件结构的改良和电学性能的优化。目前的改进思路主要有三点：第一是电极优化，比如</a:t>
            </a:r>
            <a:r>
              <a:rPr lang="en-US" altLang="zh-CN"/>
              <a:t> PPT </a:t>
            </a:r>
            <a:r>
              <a:rPr lang="zh-CN" altLang="en-US"/>
              <a:t>上展示的这种叉指电极结构，它通过优化电场分布来缩短载流子漂移距离；第二是增益机制的改良，比如这篇文献尝试的三端</a:t>
            </a:r>
            <a:r>
              <a:rPr lang="en-US" altLang="zh-CN"/>
              <a:t> APD </a:t>
            </a:r>
            <a:r>
              <a:rPr lang="zh-CN" altLang="en-US"/>
              <a:t>结构，利用栅极调控来实现低电压下的高带宽；第三是阵列级联，以及这篇文献提出的类光电倍增管的级联阵列，试图通过增大有效面积来换取增益。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但是，这些方法虽然在</a:t>
            </a:r>
            <a:r>
              <a:rPr lang="en-US" altLang="zh-CN"/>
              <a:t>“</a:t>
            </a:r>
            <a:r>
              <a:rPr lang="zh-CN" altLang="en-US"/>
              <a:t>电</a:t>
            </a:r>
            <a:r>
              <a:rPr lang="en-US" altLang="zh-CN"/>
              <a:t>”</a:t>
            </a:r>
            <a:r>
              <a:rPr lang="zh-CN" altLang="en-US"/>
              <a:t>的层面上做到了极致，比如提升了增益或者优化了带宽，但它们始终没有解决一个核心物理痛点：那就是在面入射模式下，光的利用率依然受限于</a:t>
            </a:r>
            <a:r>
              <a:rPr lang="en-US" altLang="zh-CN"/>
              <a:t> Ge </a:t>
            </a:r>
            <a:r>
              <a:rPr lang="zh-CN" altLang="en-US"/>
              <a:t>薄膜的厚度。为了吸收到足够的光，</a:t>
            </a:r>
            <a:r>
              <a:rPr lang="en-US" altLang="zh-CN"/>
              <a:t>Ge </a:t>
            </a:r>
            <a:r>
              <a:rPr lang="zh-CN" altLang="en-US"/>
              <a:t>层必须厚；为了速度够快，</a:t>
            </a:r>
            <a:r>
              <a:rPr lang="en-US" altLang="zh-CN"/>
              <a:t>Ge </a:t>
            </a:r>
            <a:r>
              <a:rPr lang="zh-CN" altLang="en-US"/>
              <a:t>层必须薄</a:t>
            </a:r>
            <a:r>
              <a:rPr lang="en-US" altLang="zh-CN"/>
              <a:t>——</a:t>
            </a:r>
            <a:r>
              <a:rPr lang="zh-CN" altLang="en-US"/>
              <a:t>这个</a:t>
            </a:r>
            <a:r>
              <a:rPr lang="en-US" altLang="zh-CN"/>
              <a:t>“</a:t>
            </a:r>
            <a:r>
              <a:rPr lang="zh-CN" altLang="en-US"/>
              <a:t>带宽与效率</a:t>
            </a:r>
            <a:r>
              <a:rPr lang="en-US" altLang="zh-CN"/>
              <a:t>”</a:t>
            </a:r>
            <a:r>
              <a:rPr lang="zh-CN" altLang="en-US"/>
              <a:t>的物理矛盾，仅靠电学优化是无法彻底打破的。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为了解决上述矛盾，引入了第二条技术路线，光学层面的光子陷光与超表面增强。这一路线的核心思想是</a:t>
            </a:r>
            <a:r>
              <a:rPr lang="en-US" altLang="zh-CN"/>
              <a:t>“</a:t>
            </a:r>
            <a:r>
              <a:rPr lang="zh-CN" altLang="en-US"/>
              <a:t>解耦光程与电程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请大家看左图，这篇文献的经典工作展示了微孔陷光效应。通过在表面引入微纳结构，垂直入射的光被散射并</a:t>
            </a:r>
            <a:r>
              <a:rPr lang="en-US" altLang="zh-CN"/>
              <a:t>“</a:t>
            </a:r>
            <a:r>
              <a:rPr lang="zh-CN" altLang="en-US"/>
              <a:t>折弯</a:t>
            </a:r>
            <a:r>
              <a:rPr lang="en-US" altLang="zh-CN"/>
              <a:t>”</a:t>
            </a:r>
            <a:r>
              <a:rPr lang="zh-CN" altLang="en-US"/>
              <a:t>，转变为在</a:t>
            </a:r>
            <a:r>
              <a:rPr lang="en-US" altLang="zh-CN"/>
              <a:t> Ge </a:t>
            </a:r>
            <a:r>
              <a:rPr lang="zh-CN" altLang="en-US"/>
              <a:t>薄膜内部的横向传播模式。这样一来，</a:t>
            </a:r>
            <a:r>
              <a:rPr lang="en-US" altLang="zh-CN"/>
              <a:t>Ge </a:t>
            </a:r>
            <a:r>
              <a:rPr lang="zh-CN" altLang="en-US"/>
              <a:t>层可以做得很薄以保证高速，但光在里面跑的路程却很长，从而保证了高吸收。而在右图，最新的研究利用超表面产生的导模共振效应，在仅</a:t>
            </a:r>
            <a:r>
              <a:rPr lang="en-US" altLang="zh-CN"/>
              <a:t> 100nm </a:t>
            </a:r>
            <a:r>
              <a:rPr lang="zh-CN" altLang="en-US"/>
              <a:t>厚的超薄层中实现了极强的光场局域。这两篇文献给我的启示是：引入微纳光子结构，是目前唯一能在物理上同时实现</a:t>
            </a:r>
            <a:r>
              <a:rPr lang="en-US" altLang="zh-CN"/>
              <a:t>“</a:t>
            </a:r>
            <a:r>
              <a:rPr lang="zh-CN" altLang="en-US"/>
              <a:t>高速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高效</a:t>
            </a:r>
            <a:r>
              <a:rPr lang="en-US" altLang="zh-CN"/>
              <a:t>”</a:t>
            </a:r>
            <a:r>
              <a:rPr lang="zh-CN" altLang="en-US"/>
              <a:t>的技术路径。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基于以上调研，毕业设计课题的技术路线为基于超表面增强的面入射</a:t>
            </a:r>
            <a:r>
              <a:rPr lang="en-US" altLang="zh-CN"/>
              <a:t> Ge/Si PIN </a:t>
            </a:r>
            <a:r>
              <a:rPr lang="zh-CN" altLang="en-US"/>
              <a:t>探测器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B44D9B-1724-42EA-8195-F0CE92D18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扉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43"/>
            <a:ext cx="10692130" cy="754187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534607" y="6880734"/>
            <a:ext cx="2494830" cy="5247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653144" y="6880734"/>
            <a:ext cx="3385841" cy="5247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4"/>
          </p:nvPr>
        </p:nvSpPr>
        <p:spPr bwMode="auto">
          <a:xfrm>
            <a:off x="7913860" y="6880734"/>
            <a:ext cx="2494830" cy="5247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90D09A-ED5D-47CC-A45F-D492BA9A6C1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00976" y="7003167"/>
            <a:ext cx="1871220" cy="402280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0001" y="7003167"/>
            <a:ext cx="2539513" cy="402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747319" y="7003167"/>
            <a:ext cx="1871220" cy="402280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2.xml"/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3.xml"/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485900" y="3107690"/>
            <a:ext cx="3840480" cy="1084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设计目标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/>
              <a:t>C </a:t>
            </a:r>
            <a:r>
              <a:rPr lang="zh-CN" altLang="en-US" b="1"/>
              <a:t>波段高响应度</a:t>
            </a:r>
            <a:r>
              <a:rPr lang="en-US" altLang="zh-CN" b="1"/>
              <a:t> + 33 GHz </a:t>
            </a:r>
            <a:r>
              <a:rPr lang="zh-CN" altLang="en-US" b="1"/>
              <a:t>带宽</a:t>
            </a:r>
            <a:endParaRPr lang="zh-CN" altLang="en-US" b="1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392420" y="3108325"/>
            <a:ext cx="3761105" cy="1012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关键技术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/>
              <a:t>光子晶体</a:t>
            </a:r>
            <a:r>
              <a:rPr lang="en-US" altLang="zh-CN" b="1"/>
              <a:t>导模共振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358775" y="1883410"/>
            <a:ext cx="9109710" cy="1015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1205" indent="0" algn="ctr" rtl="0" eaLnBrk="0" fontAlgn="auto">
              <a:lnSpc>
                <a:spcPct val="100000"/>
              </a:lnSpc>
              <a:spcBef>
                <a:spcPts val="885"/>
              </a:spcBef>
            </a:pPr>
            <a:r>
              <a:rPr lang="zh-CN" altLang="en-US" sz="4000" kern="0" spc="-110" dirty="0">
                <a:solidFill>
                  <a:srgbClr val="0070C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超构表面增强型光电探测器研究</a:t>
            </a:r>
            <a:endParaRPr lang="zh-CN" altLang="en-US" sz="4000" kern="0" spc="-110" dirty="0">
              <a:solidFill>
                <a:srgbClr val="0070C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807334" y="4469071"/>
            <a:ext cx="276923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汇报人：  颜久鹏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学号：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U202210718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427809" y="4468849"/>
            <a:ext cx="4572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专业：   光电信息工程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日期：  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2025.12.15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40280" y="1290955"/>
            <a:ext cx="5346700" cy="465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48030" algn="ctr" rtl="0" eaLnBrk="0">
              <a:lnSpc>
                <a:spcPct val="87000"/>
              </a:lnSpc>
              <a:spcBef>
                <a:spcPts val="0"/>
              </a:spcBef>
            </a:pPr>
            <a:r>
              <a:rPr sz="2800" b="1" kern="0" spc="140" dirty="0">
                <a:solidFill>
                  <a:srgbClr val="2563E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光电探测器设计报告</a:t>
            </a:r>
            <a:endParaRPr lang="zh-CN" altLang="en-US" sz="2800" b="1" kern="0" spc="140" dirty="0">
              <a:solidFill>
                <a:srgbClr val="2563EB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4607" y="853410"/>
            <a:ext cx="9622917" cy="5346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5" b="1" dirty="0">
                <a:solidFill>
                  <a:srgbClr val="002060"/>
                </a:solidFill>
              </a:rPr>
              <a:t>1. 背景介绍：光通信发展的核心驱动力</a:t>
            </a:r>
            <a:endParaRPr lang="en-US" sz="2805" b="1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34607" y="1479577"/>
            <a:ext cx="9622917" cy="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7520" y="1901825"/>
            <a:ext cx="9022080" cy="4429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数据流量爆发： 随着数据中心、5G/6G网络及物联网的发展，对光通信链路的</a:t>
            </a:r>
            <a:r>
              <a:rPr lang="en-US" dirty="0">
                <a:solidFill>
                  <a:srgbClr val="FF0000"/>
                </a:solidFill>
              </a:rPr>
              <a:t>带宽和灵敏度</a:t>
            </a:r>
            <a:r>
              <a:rPr lang="en-US" dirty="0">
                <a:solidFill>
                  <a:srgbClr val="333333"/>
                </a:solidFill>
              </a:rPr>
              <a:t>提出了极致要求。</a:t>
            </a:r>
            <a:endParaRPr lang="en-US" dirty="0"/>
          </a:p>
          <a:p>
            <a:pPr marL="342900" indent="-342900" algn="l" fontAlgn="auto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光电转换的关键瓶颈： 光电探测器（PD）作为光接收机的核心组件，直接决定了系统的信噪比（SNR）和误码率（BER）。</a:t>
            </a:r>
            <a:endParaRPr lang="en-US" dirty="0"/>
          </a:p>
          <a:p>
            <a:pPr marL="342900" indent="-342900" algn="l" fontAlgn="auto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技术演进逻辑： 从低速长距离 -&gt; 高速短距/长距并存；材料体系从Si/Ge到III-V族。</a:t>
            </a:r>
            <a:endParaRPr lang="en-US" dirty="0"/>
          </a:p>
          <a:p>
            <a:pPr marL="342900" indent="-342900" algn="l" fontAlgn="auto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面入射结构： 相比波导探测器，面入射结构具有光纤耦合简单、偏振不敏感等优势，是</a:t>
            </a:r>
            <a:r>
              <a:rPr lang="en-US" dirty="0">
                <a:solidFill>
                  <a:srgbClr val="FF0000"/>
                </a:solidFill>
              </a:rPr>
              <a:t>商业化应用的主流</a:t>
            </a:r>
            <a:r>
              <a:rPr lang="en-US" dirty="0">
                <a:solidFill>
                  <a:srgbClr val="333333"/>
                </a:solidFill>
              </a:rPr>
              <a:t>。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22917" y="6330679"/>
            <a:ext cx="1069213" cy="3207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AAAAAA"/>
                </a:solidFill>
              </a:rPr>
              <a:t>Page 2</a:t>
            </a:r>
            <a:endParaRPr lang="en-US" sz="117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15" y="4558665"/>
            <a:ext cx="9010650" cy="258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4607" y="1091535"/>
            <a:ext cx="9622917" cy="5346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5" b="1" dirty="0">
                <a:solidFill>
                  <a:srgbClr val="003366"/>
                </a:solidFill>
              </a:rPr>
              <a:t>2. 光电探测</a:t>
            </a:r>
            <a:r>
              <a:rPr lang="zh-CN" altLang="en-US" sz="2805" b="1" dirty="0">
                <a:solidFill>
                  <a:srgbClr val="003366"/>
                </a:solidFill>
              </a:rPr>
              <a:t>器</a:t>
            </a:r>
            <a:r>
              <a:rPr lang="en-US" sz="2805" b="1" dirty="0">
                <a:solidFill>
                  <a:srgbClr val="003366"/>
                </a:solidFill>
              </a:rPr>
              <a:t>：内光电效应</a:t>
            </a:r>
            <a:endParaRPr lang="en-US" sz="2805" dirty="0"/>
          </a:p>
        </p:txBody>
      </p:sp>
      <p:sp>
        <p:nvSpPr>
          <p:cNvPr id="3" name="Shape 1"/>
          <p:cNvSpPr/>
          <p:nvPr/>
        </p:nvSpPr>
        <p:spPr>
          <a:xfrm>
            <a:off x="534607" y="1679602"/>
            <a:ext cx="9622917" cy="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/>
              <p:nvPr/>
            </p:nvSpPr>
            <p:spPr>
              <a:xfrm>
                <a:off x="534607" y="2053827"/>
                <a:ext cx="5346065" cy="4276852"/>
              </a:xfrm>
              <a:prstGeom prst="rect">
                <a:avLst/>
              </a:prstGeom>
              <a:noFill/>
            </p:spPr>
            <p:txBody>
              <a:bodyPr wrap="square" rtlCol="0" anchor="t"/>
              <a:lstStyle/>
              <a:p>
                <a:pPr marL="342900" indent="-342900" algn="l">
                  <a:spcBef>
                    <a:spcPts val="800"/>
                  </a:spcBef>
                  <a:buSzPct val="100000"/>
                  <a:buChar char="•"/>
                </a:pPr>
                <a:r>
                  <a:rPr lang="en-US" sz="1635" dirty="0">
                    <a:solidFill>
                      <a:srgbClr val="333333"/>
                    </a:solidFill>
                  </a:rPr>
                  <a:t>基本原理： 半导体材料吸收能量大于禁带宽度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35" dirty="0">
                    <a:solidFill>
                      <a:srgbClr val="333333"/>
                    </a:solidFill>
                  </a:rPr>
                  <a:t>) 的光子，电子从价带跃迁至导带，产生电子-空穴对。</a:t>
                </a:r>
                <a:endParaRPr lang="zh-CN" altLang="en-US" sz="1635" dirty="0"/>
              </a:p>
              <a:p>
                <a:pPr marL="342900" indent="-342900" algn="l">
                  <a:spcBef>
                    <a:spcPts val="800"/>
                  </a:spcBef>
                  <a:buSzPct val="100000"/>
                  <a:buChar char="•"/>
                </a:pPr>
                <a:r>
                  <a:rPr lang="en-US" sz="1635" dirty="0">
                    <a:solidFill>
                      <a:srgbClr val="333333"/>
                    </a:solidFill>
                  </a:rPr>
                  <a:t>截止波长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35" dirty="0">
                    <a:solidFill>
                      <a:srgbClr val="333333"/>
                    </a:solidFill>
                  </a:rPr>
                  <a:t>)：</a:t>
                </a:r>
                <a:endParaRPr lang="en-US" sz="1635" dirty="0"/>
              </a:p>
              <a:p>
                <a:pPr marL="685800" lvl="1" indent="-342900" algn="l">
                  <a:spcBef>
                    <a:spcPts val="800"/>
                  </a:spcBef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35" dirty="0">
                    <a:solidFill>
                      <a:srgbClr val="333333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.</m:t>
                        </m:r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sSub>
                          <m:sSubPr>
                            <m:ctrlPr>
                              <a:rPr lang="en-US" sz="1635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35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635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35" dirty="0">
                    <a:solidFill>
                      <a:srgbClr val="333333"/>
                    </a:solidFill>
                  </a:rPr>
                  <a:t> (μm)。</a:t>
                </a:r>
                <a:endParaRPr lang="en-US" sz="1635" dirty="0"/>
              </a:p>
              <a:p>
                <a:pPr marL="685800" lvl="1" indent="-342900" algn="l">
                  <a:spcBef>
                    <a:spcPts val="800"/>
                  </a:spcBef>
                  <a:buSzPct val="100000"/>
                  <a:buChar char="•"/>
                </a:pPr>
                <a:r>
                  <a:rPr lang="en-US" sz="1635" dirty="0">
                    <a:solidFill>
                      <a:srgbClr val="333333"/>
                    </a:solidFill>
                  </a:rPr>
                  <a:t>Ge (</a:t>
                </a:r>
                <a:r>
                  <a:rPr lang="en-US" altLang="zh-CN" sz="1635" dirty="0">
                    <a:solidFill>
                      <a:srgbClr val="333333"/>
                    </a:solidFill>
                  </a:rPr>
                  <a:t>Eg ≈0.66eV</a:t>
                </a:r>
                <a:r>
                  <a:rPr lang="en-US" sz="1635" dirty="0">
                    <a:solidFill>
                      <a:srgbClr val="333333"/>
                    </a:solidFill>
                  </a:rPr>
                  <a:t>) </a:t>
                </a:r>
                <a:r>
                  <a:rPr lang="zh-CN" altLang="en-US" sz="1635" dirty="0">
                    <a:solidFill>
                      <a:srgbClr val="333333"/>
                    </a:solidFill>
                  </a:rPr>
                  <a:t>完美</a:t>
                </a:r>
                <a:r>
                  <a:rPr lang="en-US" sz="1635" dirty="0">
                    <a:solidFill>
                      <a:srgbClr val="333333"/>
                    </a:solidFill>
                  </a:rPr>
                  <a:t>覆盖 O/C</a:t>
                </a:r>
                <a:r>
                  <a:rPr lang="zh-CN" altLang="en-US" sz="1635" dirty="0">
                    <a:solidFill>
                      <a:srgbClr val="333333"/>
                    </a:solidFill>
                  </a:rPr>
                  <a:t>以及部分</a:t>
                </a:r>
                <a:r>
                  <a:rPr lang="en-US" sz="1635" dirty="0">
                    <a:solidFill>
                      <a:srgbClr val="333333"/>
                    </a:solidFill>
                  </a:rPr>
                  <a:t>L 波段。</a:t>
                </a:r>
                <a:endParaRPr lang="en-US" sz="1635" dirty="0">
                  <a:solidFill>
                    <a:srgbClr val="333333"/>
                  </a:solidFill>
                </a:endParaRPr>
              </a:p>
              <a:p>
                <a:pPr marL="342900" lvl="1" indent="0" algn="l">
                  <a:spcBef>
                    <a:spcPts val="800"/>
                  </a:spcBef>
                  <a:buSzPct val="100000"/>
                  <a:buNone/>
                </a:pPr>
                <a:endParaRPr lang="en-US" sz="1635" dirty="0"/>
              </a:p>
              <a:p>
                <a:pPr marL="342900" indent="-342900" algn="l">
                  <a:spcBef>
                    <a:spcPts val="800"/>
                  </a:spcBef>
                  <a:buSzPct val="100000"/>
                  <a:buChar char="•"/>
                </a:pPr>
                <a:r>
                  <a:rPr lang="en-US" sz="1635" dirty="0">
                    <a:solidFill>
                      <a:srgbClr val="333333"/>
                    </a:solidFill>
                  </a:rPr>
                  <a:t>核心指标：</a:t>
                </a:r>
                <a:r>
                  <a:rPr lang="en-US" sz="1635" dirty="0">
                    <a:solidFill>
                      <a:srgbClr val="FF0000"/>
                    </a:solidFill>
                  </a:rPr>
                  <a:t>响应度 (R)：</a:t>
                </a:r>
                <a:endParaRPr lang="en-US" sz="1635" dirty="0">
                  <a:solidFill>
                    <a:srgbClr val="FF0000"/>
                  </a:solidFill>
                </a:endParaRPr>
              </a:p>
              <a:p>
                <a:pPr marL="685800" lvl="1" indent="-342900" algn="l">
                  <a:spcBef>
                    <a:spcPts val="800"/>
                  </a:spcBef>
                  <a:buSzPct val="100000"/>
                  <a:buChar char="•"/>
                </a:pPr>
                <a:r>
                  <a:rPr lang="en-US" sz="1635" dirty="0">
                    <a:solidFill>
                      <a:srgbClr val="333333"/>
                    </a:solidFill>
                  </a:rPr>
                  <a:t>定义：单位光功率产生的光电流 (A/W)。</a:t>
                </a:r>
                <a:endParaRPr lang="en-US" sz="1635" dirty="0"/>
              </a:p>
              <a:p>
                <a:pPr marL="685800" lvl="1" indent="-342900" algn="l">
                  <a:spcBef>
                    <a:spcPts val="800"/>
                  </a:spcBef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1635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sz="1635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35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𝜂</m:t>
                    </m:r>
                    <m:r>
                      <a:rPr lang="en-US" sz="1635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1635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ℎ𝑐</m:t>
                        </m:r>
                      </m:den>
                    </m:f>
                  </m:oMath>
                </a14:m>
                <a:r>
                  <a:rPr lang="en-US" sz="1635" dirty="0">
                    <a:solidFill>
                      <a:srgbClr val="333333"/>
                    </a:solidFill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sz="1635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635" dirty="0">
                    <a:solidFill>
                      <a:srgbClr val="333333"/>
                    </a:solidFill>
                  </a:rPr>
                  <a:t> 为量子效率。</a:t>
                </a:r>
                <a:endParaRPr lang="en-US" sz="1635" dirty="0"/>
              </a:p>
              <a:p>
                <a:pPr marL="685800" lvl="1" indent="-342900" algn="l">
                  <a:spcBef>
                    <a:spcPts val="800"/>
                  </a:spcBef>
                  <a:buSzPct val="100000"/>
                  <a:buChar char="•"/>
                </a:pPr>
                <a:r>
                  <a:rPr lang="en-US" sz="1635" dirty="0">
                    <a:solidFill>
                      <a:srgbClr val="333333"/>
                    </a:solidFill>
                  </a:rPr>
                  <a:t>提高 R 需要增加吸收层厚度，但这会限制载流子渡越速度。</a:t>
                </a:r>
                <a:endParaRPr lang="en-US" sz="1635" dirty="0"/>
              </a:p>
            </p:txBody>
          </p:sp>
        </mc:Choice>
        <mc:Fallback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07" y="2053827"/>
                <a:ext cx="5346065" cy="4276852"/>
              </a:xfrm>
              <a:prstGeom prst="rect">
                <a:avLst/>
              </a:prstGeom>
              <a:blipFill rotWithShape="1">
                <a:blip r:embed="rId1"/>
                <a:stretch>
                  <a:fillRect l="-11" t="-6" r="1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6415278" y="2374590"/>
            <a:ext cx="3742246" cy="3207639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5" dirty="0"/>
          </a:p>
          <a:p>
            <a:pPr marL="0" indent="0" algn="ctr">
              <a:buNone/>
            </a:pPr>
            <a:endParaRPr lang="en-US" sz="1405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735" y="2197735"/>
            <a:ext cx="4560570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685" y="1091535"/>
            <a:ext cx="9836760" cy="5346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805" b="1" dirty="0">
                <a:solidFill>
                  <a:srgbClr val="003366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805" b="1" dirty="0">
                <a:solidFill>
                  <a:srgbClr val="003366"/>
                </a:solidFill>
                <a:ea typeface="宋体" panose="02010600030101010101" pitchFamily="2" charset="-122"/>
              </a:rPr>
              <a:t>、</a:t>
            </a:r>
            <a:r>
              <a:rPr lang="en-US" sz="2805" b="1" dirty="0">
                <a:solidFill>
                  <a:srgbClr val="003366"/>
                </a:solidFill>
              </a:rPr>
              <a:t>结构演进：面入射vs. </a:t>
            </a:r>
            <a:r>
              <a:rPr lang="zh-CN" altLang="en-US" sz="2805" b="1" dirty="0">
                <a:solidFill>
                  <a:srgbClr val="003366"/>
                </a:solidFill>
              </a:rPr>
              <a:t>边入射</a:t>
            </a:r>
            <a:endParaRPr lang="en-US" sz="2805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427685" y="1839984"/>
            <a:ext cx="4704537" cy="3849167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427685" y="1946905"/>
            <a:ext cx="4704537" cy="427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0078D4"/>
                </a:solidFill>
              </a:rPr>
              <a:t>面入射结构</a:t>
            </a:r>
            <a:endParaRPr lang="en-US" sz="187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41528" y="2374590"/>
            <a:ext cx="4276852" cy="1283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SzPct val="100000"/>
              <a:buNone/>
            </a:pPr>
            <a:r>
              <a:rPr lang="en-US" sz="1405" b="1" dirty="0">
                <a:solidFill>
                  <a:srgbClr val="000000"/>
                </a:solidFill>
              </a:rPr>
              <a:t>几何关系：</a:t>
            </a:r>
            <a:r>
              <a:rPr lang="en-US" sz="1405" dirty="0">
                <a:solidFill>
                  <a:srgbClr val="000000"/>
                </a:solidFill>
              </a:rPr>
              <a:t>光入射方向 // 载流子漂移方向。
</a:t>
            </a:r>
            <a:endParaRPr lang="en-US" sz="1405" dirty="0"/>
          </a:p>
          <a:p>
            <a:pPr marL="0" indent="0">
              <a:buNone/>
            </a:pPr>
            <a:r>
              <a:rPr lang="en-US" sz="1405" b="1" dirty="0">
                <a:solidFill>
                  <a:srgbClr val="000000"/>
                </a:solidFill>
              </a:rPr>
              <a:t>核心痛点：</a:t>
            </a:r>
            <a:r>
              <a:rPr lang="en-US" sz="1405" dirty="0">
                <a:solidFill>
                  <a:srgbClr val="333333"/>
                </a:solidFill>
              </a:rPr>
              <a:t>带宽与效率互斥。增加厚度W提高效率，但渡越时间变长，带宽下降。</a:t>
            </a:r>
            <a:endParaRPr lang="en-US" sz="1405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5559908" y="1839984"/>
            <a:ext cx="4704537" cy="3849167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5559908" y="1946905"/>
            <a:ext cx="4704537" cy="427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70" dirty="0"/>
              <a:t>边入射结构</a:t>
            </a:r>
            <a:endParaRPr lang="zh-CN" altLang="en-US" sz="187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773750" y="2374590"/>
            <a:ext cx="4276852" cy="1283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SzPct val="100000"/>
              <a:buNone/>
            </a:pPr>
            <a:r>
              <a:rPr lang="en-US" sz="1405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几何关系：</a:t>
            </a:r>
            <a:r>
              <a:rPr lang="en-US" sz="140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光入射方向 ⊥ 载流子漂移方向。
</a:t>
            </a:r>
            <a:endParaRPr 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405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核心优势：</a:t>
            </a:r>
            <a:r>
              <a:rPr lang="en-US" sz="1405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性能解耦。吸收由波导长度决定，响应速度由厚度决定。</a:t>
            </a:r>
            <a:endParaRPr 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7685" y="5902993"/>
            <a:ext cx="9836760" cy="641528"/>
          </a:xfrm>
          <a:prstGeom prst="rect">
            <a:avLst/>
          </a:prstGeom>
          <a:solidFill>
            <a:srgbClr val="E8F4F8"/>
          </a:solidFill>
        </p:spPr>
      </p:sp>
      <p:sp>
        <p:nvSpPr>
          <p:cNvPr id="12" name="Text 10"/>
          <p:cNvSpPr/>
          <p:nvPr/>
        </p:nvSpPr>
        <p:spPr>
          <a:xfrm>
            <a:off x="534607" y="5902993"/>
            <a:ext cx="9622917" cy="641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5" i="1" dirty="0">
                <a:solidFill>
                  <a:srgbClr val="FF0000"/>
                </a:solidFill>
              </a:rPr>
              <a:t>尽管边入射打破了带宽限制，但在实际工程应用中，面入射结构实现了</a:t>
            </a:r>
            <a:r>
              <a:rPr lang="en-US" altLang="zh-CN" sz="1405" i="1" dirty="0">
                <a:solidFill>
                  <a:srgbClr val="FF0000"/>
                </a:solidFill>
              </a:rPr>
              <a:t>“</a:t>
            </a:r>
            <a:r>
              <a:rPr lang="zh-CN" altLang="en-US" sz="1405" i="1" dirty="0">
                <a:solidFill>
                  <a:srgbClr val="FF0000"/>
                </a:solidFill>
              </a:rPr>
              <a:t>性能与稳定性</a:t>
            </a:r>
            <a:r>
              <a:rPr lang="en-US" altLang="zh-CN" sz="1405" i="1" dirty="0">
                <a:solidFill>
                  <a:srgbClr val="FF0000"/>
                </a:solidFill>
              </a:rPr>
              <a:t>”</a:t>
            </a:r>
            <a:r>
              <a:rPr lang="zh-CN" altLang="en-US" sz="1405" i="1" dirty="0">
                <a:solidFill>
                  <a:srgbClr val="FF0000"/>
                </a:solidFill>
              </a:rPr>
              <a:t>的最佳平衡</a:t>
            </a:r>
            <a:endParaRPr lang="en-US" altLang="zh-CN" sz="1405" i="1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1528" y="3330942"/>
            <a:ext cx="4623604" cy="17033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核心优势：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ts val="2140"/>
              </a:lnSpc>
              <a:buFont typeface="Arial" panose="020B0604020202020204"/>
              <a:buChar char="•"/>
            </a:pPr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耦合效率高且稳定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：大光敏面意味着极高的对准容差。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ts val="2140"/>
              </a:lnSpc>
              <a:buFont typeface="Arial" panose="020B0604020202020204"/>
              <a:buChar char="•"/>
            </a:pPr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偏振不敏感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：结构旋转对称，对入射光的偏振态不敏感。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ts val="2140"/>
              </a:lnSpc>
              <a:buFont typeface="Arial" panose="020B0604020202020204"/>
              <a:buChar char="•"/>
            </a:pPr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宽谱响应能力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1405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不受波导色散和截止波长的限制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，能够响应更宽的光谱范围。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>
              <a:buFont typeface="Arial" panose="020B0604020202020204"/>
              <a:buNone/>
            </a:pP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1528" y="5034258"/>
            <a:ext cx="4118698" cy="524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工程价值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工艺成熟，良率高。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39595" y="3295302"/>
            <a:ext cx="4417929" cy="201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ts val="2140"/>
              </a:lnSpc>
            </a:pPr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主要局限：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ts val="2140"/>
              </a:lnSpc>
              <a:buFont typeface="Arial" panose="020B0604020202020204"/>
              <a:buChar char="•"/>
            </a:pPr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极高的封装门槛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：对光纤对准精度要求极高，微小的位移或振动都会导致光功率急剧下降，系统稳定性差。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ts val="2140"/>
              </a:lnSpc>
              <a:buFont typeface="Arial" panose="020B0604020202020204"/>
              <a:buChar char="•"/>
            </a:pPr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严重的偏振依赖性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：波导结构通常具有强烈的双折射效应，仅能传输特定偏振态的光（通常是</a:t>
            </a:r>
            <a:r>
              <a:rPr lang="en-US" altLang="zh-CN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模）。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ts val="2140"/>
              </a:lnSpc>
              <a:buFont typeface="Arial" panose="020B0604020202020204"/>
              <a:buChar char="•"/>
            </a:pPr>
            <a:r>
              <a:rPr lang="zh-CN" altLang="en-US" sz="140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工艺复杂</a:t>
            </a:r>
            <a:r>
              <a:rPr lang="zh-CN" altLang="en-US" sz="1405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：需要复杂的外延生长和刻蚀工艺来制备高质量光波导。</a:t>
            </a:r>
            <a:endParaRPr lang="zh-CN" altLang="en-US" sz="140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976" y="1011200"/>
            <a:ext cx="5535930" cy="52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 sz="2805" b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2805" b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sz="2805" b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PIN/APD</a:t>
            </a:r>
            <a:r>
              <a:rPr sz="2805" b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探测器原理与物理瓶颈</a:t>
            </a:r>
            <a:endParaRPr sz="2805" b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400685" y="1973580"/>
            <a:ext cx="4651375" cy="3865245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sz="1580"/>
              <a:t>1. PIN 探测器</a:t>
            </a:r>
            <a:endParaRPr sz="1580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481171" y="2143956"/>
            <a:ext cx="4490929" cy="1410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sz="1405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405"/>
              <a:t>● 机制：单位增益 (M=1)。</a:t>
            </a:r>
            <a:endParaRPr sz="1405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405"/>
              <a:t>● 优势：结构简单、低噪声、高带宽。</a:t>
            </a:r>
            <a:endParaRPr sz="1405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405"/>
              <a:t>● 痛点：无内部放大，对微弱信号响应度低 (&lt;1 A/W)。</a:t>
            </a:r>
            <a:endParaRPr sz="1405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405"/>
              <a:t>● 困境：为提速需减薄Ge层 -&gt; 导致光吸收大幅下降。</a:t>
            </a:r>
            <a:endParaRPr sz="1405"/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5613400" y="1973580"/>
            <a:ext cx="4651375" cy="3865245"/>
          </a:xfrm>
          <a:prstGeom prst="roundRect">
            <a:avLst/>
          </a:prstGeom>
          <a:solidFill>
            <a:srgbClr val="F5F5FA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sz="1580"/>
              <a:t>2. APD 探测器</a:t>
            </a:r>
            <a:endParaRPr sz="1580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5703880" y="2298221"/>
            <a:ext cx="4490929" cy="11227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fontAlgn="auto"/>
            <a:r>
              <a:rPr sz="1405"/>
              <a:t>● 动机：解决微弱光</a:t>
            </a:r>
            <a:r>
              <a:rPr sz="1405">
                <a:solidFill>
                  <a:srgbClr val="000000"/>
                </a:solidFill>
              </a:rPr>
              <a:t>探测的灵敏度问题。</a:t>
            </a:r>
            <a:endParaRPr sz="1405">
              <a:solidFill>
                <a:srgbClr val="000000"/>
              </a:solidFill>
            </a:endParaRPr>
          </a:p>
          <a:p>
            <a:pPr indent="0" fontAlgn="auto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405"/>
              <a:t>● 机制：雪崩倍增 (M&gt;&gt;1)。利用强电场放大电流。</a:t>
            </a:r>
            <a:endParaRPr sz="1405"/>
          </a:p>
          <a:p>
            <a:pPr indent="0" fontAlgn="auto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405"/>
              <a:t>● 代价：引入过剩噪声(Excess Noise)；需要高偏置电压；带宽受限(GBP限制)。</a:t>
            </a:r>
            <a:endParaRPr sz="1405"/>
          </a:p>
        </p:txBody>
      </p:sp>
      <p:sp>
        <p:nvSpPr>
          <p:cNvPr id="9" name="Right Arrow 8"/>
          <p:cNvSpPr/>
          <p:nvPr>
            <p:custDataLst>
              <p:tags r:id="rId5"/>
            </p:custDataLst>
          </p:nvPr>
        </p:nvSpPr>
        <p:spPr>
          <a:xfrm>
            <a:off x="5132490" y="3577445"/>
            <a:ext cx="400976" cy="320781"/>
          </a:xfrm>
          <a:prstGeom prst="right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80"/>
          </a:p>
        </p:txBody>
      </p:sp>
      <p:sp>
        <p:nvSpPr>
          <p:cNvPr id="10" name="TextBox 9"/>
          <p:cNvSpPr txBox="1"/>
          <p:nvPr/>
        </p:nvSpPr>
        <p:spPr>
          <a:xfrm>
            <a:off x="960368" y="5903104"/>
            <a:ext cx="8745220" cy="3340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C0000"/>
                </a:solidFill>
              </a:defRPr>
            </a:pPr>
            <a:r>
              <a:rPr sz="1580"/>
              <a:t>共同瓶颈：无论是PIN(吸不到)还是APD(强行放大)，均受限于面入射下超薄Ge层的光吸收极限。</a:t>
            </a:r>
            <a:endParaRPr sz="158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4028440"/>
            <a:ext cx="3514090" cy="17792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885" y="4035425"/>
            <a:ext cx="3488055" cy="178181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34607" y="1679602"/>
            <a:ext cx="9622917" cy="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976" y="1011200"/>
            <a:ext cx="7358380" cy="52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2805" dirty="0" err="1"/>
              <a:t>现状一：基于器件结构与电学优化的技术路线</a:t>
            </a:r>
            <a:endParaRPr sz="2805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746260" y="5010933"/>
            <a:ext cx="2861408" cy="90999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方案: 叉指电极 (Interdigitated)。</a:t>
            </a:r>
            <a:endParaRPr sz="1230">
              <a:sym typeface="+mn-ea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目的: 优化电场分布，缩短漂移路径。</a:t>
            </a:r>
            <a:endParaRPr sz="1230">
              <a:sym typeface="+mn-ea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局限: 仅提升速度，未改善光吸收</a:t>
            </a:r>
            <a:br>
              <a:rPr sz="1230">
                <a:sym typeface="+mn-ea"/>
              </a:rPr>
            </a:br>
            <a:endParaRPr lang="en-US" altLang="zh-CN" sz="1230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4220827" y="4990884"/>
            <a:ext cx="2395273" cy="80752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 fontAlgn="auto">
              <a:lnSpc>
                <a:spcPts val="2080"/>
              </a:lnSpc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三端栅控结构</a:t>
            </a:r>
            <a:br>
              <a:rPr sz="1230">
                <a:sym typeface="+mn-ea"/>
              </a:rPr>
            </a:br>
            <a:r>
              <a:rPr sz="1230">
                <a:sym typeface="+mn-ea"/>
              </a:rPr>
              <a:t>● 创新: 引入Gate端调控电场。</a:t>
            </a:r>
            <a:br>
              <a:rPr sz="1230">
                <a:sym typeface="+mn-ea"/>
              </a:rPr>
            </a:br>
            <a:r>
              <a:rPr sz="1230">
                <a:sym typeface="+mn-ea"/>
              </a:rPr>
              <a:t>● 优势: 低电压工作</a:t>
            </a:r>
            <a:endParaRPr sz="1230">
              <a:sym typeface="+mn-ea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777259" y="4980303"/>
            <a:ext cx="2630847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ts val="2080"/>
              </a:lnSpc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●级联阵列结构</a:t>
            </a:r>
            <a:br>
              <a:rPr sz="1230">
                <a:sym typeface="+mn-ea"/>
              </a:rPr>
            </a:br>
            <a:r>
              <a:rPr sz="1230">
                <a:sym typeface="+mn-ea"/>
              </a:rPr>
              <a:t>● 创新: 类PMT级联拓扑。</a:t>
            </a:r>
            <a:br>
              <a:rPr sz="1230">
                <a:sym typeface="+mn-ea"/>
              </a:rPr>
            </a:br>
            <a:r>
              <a:rPr sz="1230">
                <a:sym typeface="+mn-ea"/>
              </a:rPr>
              <a:t>● 优势: 大面积下的高增益</a:t>
            </a:r>
            <a:endParaRPr sz="1230"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0927" y="5953226"/>
            <a:ext cx="9623418" cy="270659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800" b="1">
                <a:solidFill>
                  <a:srgbClr val="CC0000"/>
                </a:solidFill>
              </a:defRPr>
            </a:pPr>
            <a:r>
              <a:rPr sz="1580"/>
              <a:t>小结：此类方法优化了电信号的提取与增益，但未解决Ge薄膜光吸收率低的物理瓶颈。</a:t>
            </a:r>
            <a:endParaRPr sz="158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41" y="2181269"/>
            <a:ext cx="3038505" cy="27979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6642" y="6865056"/>
            <a:ext cx="3309721" cy="469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rPr lang="en-US" altLang="zh-CN" sz="1230" dirty="0">
                <a:sym typeface="+mn-ea"/>
              </a:rPr>
              <a:t>[1]Surface illuminated interdigitated Ge-on-Si</a:t>
            </a:r>
            <a:endParaRPr lang="en-US" altLang="zh-CN" sz="1230" dirty="0"/>
          </a:p>
          <a:p>
            <a:pPr algn="ctr">
              <a:defRPr sz="1400">
                <a:solidFill>
                  <a:srgbClr val="000000"/>
                </a:solidFill>
              </a:defRPr>
            </a:pPr>
            <a:r>
              <a:rPr lang="en-US" altLang="zh-CN" sz="1230" dirty="0">
                <a:sym typeface="+mn-ea"/>
              </a:rPr>
              <a:t>photodetector with high responsivity</a:t>
            </a:r>
            <a:endParaRPr lang="en-US" altLang="zh-CN" sz="1230" dirty="0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763" y="2458054"/>
            <a:ext cx="3409408" cy="220425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89143" y="1896688"/>
            <a:ext cx="2624720" cy="334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sz="1580">
                <a:sym typeface="+mn-ea"/>
              </a:rPr>
              <a:t>方向A: PIN 电极优化</a:t>
            </a:r>
            <a:endParaRPr lang="zh-CN" altLang="en-US" sz="158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44705" y="1864387"/>
            <a:ext cx="5346343" cy="334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sz="1580">
                <a:sym typeface="+mn-ea"/>
              </a:rPr>
              <a:t>方向B: APD 结构/增益优化</a:t>
            </a:r>
            <a:endParaRPr lang="zh-CN" altLang="en-US" sz="1580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363" y="2588371"/>
            <a:ext cx="3132623" cy="207115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560621" y="6848733"/>
            <a:ext cx="2775643" cy="658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30">
                <a:solidFill>
                  <a:srgbClr val="000000"/>
                </a:solidFill>
              </a:rPr>
              <a:t>[3] High-Performance Cascaded </a:t>
            </a:r>
            <a:br>
              <a:rPr lang="en-US" altLang="zh-CN" sz="1230">
                <a:solidFill>
                  <a:srgbClr val="000000"/>
                </a:solidFill>
              </a:rPr>
            </a:br>
            <a:r>
              <a:rPr lang="en-US" altLang="zh-CN" sz="1230">
                <a:solidFill>
                  <a:srgbClr val="000000"/>
                </a:solidFill>
              </a:rPr>
              <a:t>Surface-Illuminated Ge-on-Si APD Array</a:t>
            </a:r>
            <a:endParaRPr lang="en-US" altLang="zh-CN" sz="1230">
              <a:solidFill>
                <a:srgbClr val="0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88282" y="6855416"/>
            <a:ext cx="2784554" cy="469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30">
                <a:solidFill>
                  <a:srgbClr val="000000"/>
                </a:solidFill>
              </a:rPr>
              <a:t>[2] Appl. Phys. Lett. 126, 021105 (2025); doi: 10.1063/5.0239942</a:t>
            </a:r>
            <a:endParaRPr lang="en-US" altLang="zh-CN" sz="1230">
              <a:solidFill>
                <a:srgbClr val="000000"/>
              </a:solidFill>
            </a:endParaRPr>
          </a:p>
        </p:txBody>
      </p:sp>
      <p:sp>
        <p:nvSpPr>
          <p:cNvPr id="5" name="Shape 1"/>
          <p:cNvSpPr/>
          <p:nvPr/>
        </p:nvSpPr>
        <p:spPr>
          <a:xfrm>
            <a:off x="534607" y="1574827"/>
            <a:ext cx="9622917" cy="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976" y="1011200"/>
            <a:ext cx="6999605" cy="52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2805"/>
              <a:t>现状二：基于光子陷光与超表面的技术路线</a:t>
            </a:r>
            <a:endParaRPr sz="2805"/>
          </a:p>
        </p:txBody>
      </p:sp>
      <p:sp>
        <p:nvSpPr>
          <p:cNvPr id="4" name="TextBox 3"/>
          <p:cNvSpPr txBox="1"/>
          <p:nvPr/>
        </p:nvSpPr>
        <p:spPr>
          <a:xfrm>
            <a:off x="930041" y="5441425"/>
            <a:ext cx="4312285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核心思想: 光程折弯。</a:t>
            </a:r>
            <a:endParaRPr sz="1230">
              <a:sym typeface="+mn-ea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机制: 利用表面微结构散射，将垂直入射光转为横向传播。</a:t>
            </a:r>
            <a:endParaRPr sz="1230">
              <a:sym typeface="+mn-ea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效果: 薄膜(高速) + 长光程(高吸)同时实现。</a:t>
            </a:r>
            <a:endParaRPr sz="1230">
              <a:sym typeface="+mn-ea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5052295" y="3818030"/>
            <a:ext cx="641561" cy="320781"/>
          </a:xfrm>
          <a:prstGeom prst="right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80"/>
          </a:p>
        </p:txBody>
      </p:sp>
      <p:sp>
        <p:nvSpPr>
          <p:cNvPr id="7" name="TextBox 6"/>
          <p:cNvSpPr txBox="1"/>
          <p:nvPr/>
        </p:nvSpPr>
        <p:spPr>
          <a:xfrm>
            <a:off x="5820831" y="5431401"/>
            <a:ext cx="4735969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核心思想: 场增强与共振。</a:t>
            </a:r>
            <a:endParaRPr sz="1230">
              <a:sym typeface="+mn-ea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机制: 利用纳米盘产生导模共振，在100nm薄层内强力锁住光场。</a:t>
            </a:r>
            <a:endParaRPr sz="1230">
              <a:sym typeface="+mn-ea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230">
                <a:sym typeface="+mn-ea"/>
              </a:rPr>
              <a:t>● 优势: 相比微孔散射，具有更高的波长选择性和局域增强倍数。</a:t>
            </a:r>
            <a:endParaRPr sz="123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407" y="2405147"/>
            <a:ext cx="3388802" cy="29583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15874" y="1830972"/>
            <a:ext cx="4226396" cy="334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sz="1580">
                <a:sym typeface="+mn-ea"/>
              </a:rPr>
              <a:t>阶段1: 微孔陷光 (Micro-holes)</a:t>
            </a:r>
            <a:endParaRPr lang="zh-CN" altLang="en-US" sz="158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449" y="2347229"/>
            <a:ext cx="2895936" cy="289593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508059" y="1843224"/>
            <a:ext cx="2521692" cy="334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580" b="1">
                <a:solidFill>
                  <a:srgbClr val="003366"/>
                </a:solidFill>
                <a:sym typeface="+mn-ea"/>
              </a:rPr>
              <a:t>阶段2: 超表面共振</a:t>
            </a:r>
            <a:endParaRPr sz="1580" b="1">
              <a:solidFill>
                <a:srgbClr val="003366"/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7093" y="6834695"/>
            <a:ext cx="4225839" cy="469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30">
                <a:solidFill>
                  <a:srgbClr val="000000"/>
                </a:solidFill>
              </a:rPr>
              <a:t>[1] Surface-illuminated photon-trapping high-speed Ge-on-Si photodiodes with improved efficiency up to 1700 nm</a:t>
            </a:r>
            <a:endParaRPr lang="en-US" altLang="zh-CN" sz="1230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84246" y="6818372"/>
            <a:ext cx="5264478" cy="658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30">
                <a:solidFill>
                  <a:srgbClr val="000000"/>
                </a:solidFill>
              </a:rPr>
              <a:t>[2]Guided-Mode Resonance Enhanced Ge-on-Si Self-Powered Surface Illuminated Photodetector for Ultrahigh-Speed Optical Communication Systems</a:t>
            </a:r>
            <a:endParaRPr lang="en-US" altLang="zh-CN" sz="1230">
              <a:solidFill>
                <a:srgbClr val="00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34607" y="1574827"/>
            <a:ext cx="9622917" cy="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976" y="1011200"/>
            <a:ext cx="8441690" cy="52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2805"/>
              <a:t>选题依据：为何采用 Ge/Si PIN + 面入射 + 超表面？</a:t>
            </a:r>
            <a:endParaRPr sz="2805"/>
          </a:p>
        </p:txBody>
      </p:sp>
      <p:sp>
        <p:nvSpPr>
          <p:cNvPr id="3" name="TextBox 2"/>
          <p:cNvSpPr txBox="1"/>
          <p:nvPr/>
        </p:nvSpPr>
        <p:spPr>
          <a:xfrm>
            <a:off x="400976" y="1973542"/>
            <a:ext cx="5613661" cy="4168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580"/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rPr sz="1930"/>
              <a:t>1. 为什么选择 Ge-on-Si PIN 结构？</a:t>
            </a:r>
            <a:endParaRPr sz="1930"/>
          </a:p>
          <a:p>
            <a:pPr>
              <a:spcAft>
                <a:spcPts val="2000"/>
              </a:spcAft>
              <a:defRPr sz="1800">
                <a:solidFill>
                  <a:srgbClr val="000000"/>
                </a:solidFill>
              </a:defRPr>
            </a:pPr>
            <a:r>
              <a:rPr sz="1580"/>
              <a:t>• CMOS工艺兼容：可与硅基电路单片集成，成本低，适合大规模量产。</a:t>
            </a:r>
            <a:br>
              <a:rPr sz="1580"/>
            </a:br>
            <a:r>
              <a:rPr sz="1580"/>
              <a:t>• 结构成熟：PIN结构相比APD噪声更低，偏置电压更小。</a:t>
            </a:r>
            <a:endParaRPr sz="1580"/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rPr sz="1930"/>
              <a:t>2. 为什么选择 面入射 方式？</a:t>
            </a:r>
            <a:endParaRPr sz="1930"/>
          </a:p>
          <a:p>
            <a:pPr>
              <a:spcAft>
                <a:spcPts val="2000"/>
              </a:spcAft>
              <a:defRPr sz="1800">
                <a:solidFill>
                  <a:srgbClr val="000000"/>
                </a:solidFill>
              </a:defRPr>
            </a:pPr>
            <a:r>
              <a:rPr sz="1580"/>
              <a:t>• 封装优势：光纤耦合对准容差大，无需复杂的光栅耦合器。</a:t>
            </a:r>
            <a:br>
              <a:rPr sz="1580"/>
            </a:br>
            <a:r>
              <a:rPr sz="1580"/>
              <a:t>• 阵列化潜力：天然适合二维焦平面阵列 (FPA) 应用。</a:t>
            </a:r>
            <a:br>
              <a:rPr sz="1580"/>
            </a:br>
            <a:r>
              <a:rPr sz="1580"/>
              <a:t>• 痛点：光程短，传统结构难以兼顾响应度与带宽。</a:t>
            </a:r>
            <a:endParaRPr sz="1580"/>
          </a:p>
          <a:p>
            <a:pPr>
              <a:defRPr sz="2200" b="1">
                <a:solidFill>
                  <a:srgbClr val="CC0000"/>
                </a:solidFill>
              </a:defRPr>
            </a:pPr>
            <a:r>
              <a:rPr sz="1930"/>
              <a:t>3. 为什么必须引入 超表面/光子晶体？</a:t>
            </a:r>
            <a:endParaRPr sz="193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1580"/>
              <a:t>• 解决核心矛盾：通过“光子陷光”或“导模共振(GMR)”，让光在薄膜内横向传播。</a:t>
            </a:r>
            <a:br>
              <a:rPr sz="1580"/>
            </a:br>
            <a:r>
              <a:rPr sz="1580"/>
              <a:t>• 最终效果：用超薄的Ge层(保证高速)实现极高的光吸收(保证高响应)。</a:t>
            </a:r>
            <a:endParaRPr sz="1580"/>
          </a:p>
        </p:txBody>
      </p:sp>
      <p:sp>
        <p:nvSpPr>
          <p:cNvPr id="5" name="Shape 1"/>
          <p:cNvSpPr/>
          <p:nvPr/>
        </p:nvSpPr>
        <p:spPr>
          <a:xfrm>
            <a:off x="534607" y="1574827"/>
            <a:ext cx="9622917" cy="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995" y="2767965"/>
            <a:ext cx="4745990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60"/>
          <p:cNvSpPr/>
          <p:nvPr/>
        </p:nvSpPr>
        <p:spPr>
          <a:xfrm>
            <a:off x="491490" y="368300"/>
            <a:ext cx="7075170" cy="717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850" algn="l" rtl="0" eaLnBrk="0">
              <a:lnSpc>
                <a:spcPct val="88000"/>
              </a:lnSpc>
              <a:spcBef>
                <a:spcPts val="5"/>
              </a:spcBef>
              <a:buClrTx/>
              <a:buSzTx/>
              <a:buFontTx/>
              <a:tabLst>
                <a:tab pos="225425" algn="l"/>
              </a:tabLst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400" b="1" kern="0" spc="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器件设计： 外延层参数表</a:t>
            </a:r>
            <a:endParaRPr sz="2400" b="1" kern="0" spc="80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151522" y="5295703"/>
            <a:ext cx="156210" cy="132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845"/>
              </a:lnSpc>
            </a:pP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27568" y="7189144"/>
            <a:ext cx="12671" cy="1264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505" y="1010285"/>
            <a:ext cx="7514590" cy="32810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3336" r="9646" b="4982"/>
          <a:stretch>
            <a:fillRect/>
          </a:stretch>
        </p:blipFill>
        <p:spPr>
          <a:xfrm>
            <a:off x="690880" y="1201420"/>
            <a:ext cx="1986915" cy="24936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5315" y="4253230"/>
            <a:ext cx="53467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 kern="0" spc="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增强层设计： 光子晶体几何参数</a:t>
            </a:r>
            <a:endParaRPr lang="zh-CN" altLang="en-US" sz="2400" b="1" kern="0" spc="80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" y="4858385"/>
            <a:ext cx="3350260" cy="25247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68850" y="4567555"/>
            <a:ext cx="4679950" cy="2898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1600" b="1"/>
              <a:t>几何定义</a:t>
            </a:r>
            <a:endParaRPr lang="en-US" altLang="zh-CN" sz="1600" b="1"/>
          </a:p>
          <a:p>
            <a:pPr indent="0" algn="l" fontAlgn="auto">
              <a:lnSpc>
                <a:spcPct val="200000"/>
              </a:lnSpc>
            </a:pPr>
            <a:r>
              <a:rPr lang="zh-CN" altLang="en-US" sz="1600"/>
              <a:t>晶格类型</a:t>
            </a:r>
            <a:r>
              <a:rPr lang="en-US" altLang="zh-CN" sz="1600"/>
              <a:t>                    </a:t>
            </a:r>
            <a:r>
              <a:rPr lang="zh-CN" altLang="en-US" sz="1600"/>
              <a:t>正方形</a:t>
            </a:r>
            <a:r>
              <a:rPr lang="en-US" altLang="zh-CN" sz="1600"/>
              <a:t> (Square Lattice)</a:t>
            </a:r>
            <a:endParaRPr lang="en-US" altLang="zh-CN" sz="1600"/>
          </a:p>
          <a:p>
            <a:pPr indent="0" algn="l" fontAlgn="auto">
              <a:lnSpc>
                <a:spcPct val="200000"/>
              </a:lnSpc>
            </a:pPr>
            <a:r>
              <a:rPr lang="zh-CN" altLang="en-US" sz="1600"/>
              <a:t>孔径</a:t>
            </a:r>
            <a:r>
              <a:rPr lang="en-US" altLang="zh-CN" sz="1600"/>
              <a:t> (Diameter)                        300 - 320 nm</a:t>
            </a:r>
            <a:endParaRPr lang="en-US" altLang="zh-CN" sz="1600"/>
          </a:p>
          <a:p>
            <a:pPr indent="0" algn="l" fontAlgn="auto">
              <a:lnSpc>
                <a:spcPct val="200000"/>
              </a:lnSpc>
            </a:pPr>
            <a:r>
              <a:rPr lang="zh-CN" altLang="en-US" sz="1600"/>
              <a:t>刻蚀深度</a:t>
            </a:r>
            <a:r>
              <a:rPr lang="en-US" altLang="zh-CN" sz="1600"/>
              <a:t>                                         ~ 215 nm</a:t>
            </a:r>
            <a:endParaRPr lang="en-US" altLang="zh-CN" sz="1600"/>
          </a:p>
          <a:p>
            <a:pPr indent="0" fontAlgn="auto">
              <a:lnSpc>
                <a:spcPts val="1240"/>
              </a:lnSpc>
            </a:pPr>
            <a:r>
              <a:rPr lang="en-US" altLang="zh-CN" sz="1600"/>
              <a:t>                                                </a:t>
            </a:r>
            <a:r>
              <a:rPr lang="zh-CN" altLang="en-US" sz="1200"/>
              <a:t>穿透</a:t>
            </a:r>
            <a:r>
              <a:rPr lang="en-US" altLang="zh-CN" sz="1200"/>
              <a:t> n+ </a:t>
            </a:r>
            <a:r>
              <a:rPr lang="zh-CN" altLang="en-US" sz="1200"/>
              <a:t>进入</a:t>
            </a:r>
            <a:r>
              <a:rPr lang="en-US" altLang="zh-CN" sz="1200"/>
              <a:t> i-Ge</a:t>
            </a:r>
            <a:br>
              <a:rPr lang="en-US" altLang="zh-CN" sz="1200"/>
            </a:br>
            <a:br>
              <a:rPr lang="en-US" altLang="zh-CN" sz="1200"/>
            </a:b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周期 (Period)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                                      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540 nm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3840480" y="7014845"/>
            <a:ext cx="65366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周期</a:t>
            </a:r>
            <a:r>
              <a:rPr lang="en-US" altLang="zh-CN">
                <a:sym typeface="+mn-ea"/>
              </a:rPr>
              <a:t> P </a:t>
            </a:r>
            <a:r>
              <a:rPr lang="zh-CN" altLang="en-US">
                <a:sym typeface="+mn-ea"/>
              </a:rPr>
              <a:t>决定共振峰位置。</a:t>
            </a:r>
            <a:r>
              <a:rPr lang="en-US" altLang="zh-CN">
                <a:sym typeface="+mn-ea"/>
              </a:rPr>
              <a:t>P </a:t>
            </a:r>
            <a:r>
              <a:rPr lang="zh-CN" altLang="en-US">
                <a:sym typeface="+mn-ea"/>
              </a:rPr>
              <a:t>每增加</a:t>
            </a:r>
            <a:r>
              <a:rPr lang="en-US" altLang="zh-CN">
                <a:sym typeface="+mn-ea"/>
              </a:rPr>
              <a:t> 10nm</a:t>
            </a:r>
            <a:r>
              <a:rPr lang="zh-CN" altLang="en-US">
                <a:sym typeface="+mn-ea"/>
              </a:rPr>
              <a:t>，共振峰红移。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6"/>
          <p:cNvSpPr/>
          <p:nvPr/>
        </p:nvSpPr>
        <p:spPr>
          <a:xfrm>
            <a:off x="991235" y="686435"/>
            <a:ext cx="5013960" cy="690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850" algn="l" rtl="0" eaLnBrk="0">
              <a:lnSpc>
                <a:spcPct val="88000"/>
              </a:lnSpc>
              <a:spcBef>
                <a:spcPts val="0"/>
              </a:spcBef>
              <a:tabLst>
                <a:tab pos="225425" algn="l"/>
              </a:tabLst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400" b="1" kern="0" spc="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设计验证： FDTD 光学仿真结果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91235" y="686435"/>
            <a:ext cx="57150" cy="428625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481832" y="3958859"/>
            <a:ext cx="12686" cy="12684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27568" y="7189276"/>
            <a:ext cx="12671" cy="125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245" y="1458595"/>
            <a:ext cx="5432425" cy="5078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" y="2216150"/>
            <a:ext cx="4445000" cy="3562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" y="2216150"/>
            <a:ext cx="371475" cy="4851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6208" y="2080893"/>
            <a:ext cx="7813985" cy="8375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50" b="1" dirty="0">
                <a:ln w="0"/>
                <a:solidFill>
                  <a:srgbClr val="C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恳请</a:t>
            </a:r>
            <a:r>
              <a:rPr lang="zh-CN" altLang="en-US" sz="4850" b="1" i="0" kern="1200" cap="none" spc="0" dirty="0">
                <a:ln w="0"/>
                <a:solidFill>
                  <a:srgbClr val="C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老师批评</a:t>
            </a:r>
            <a:r>
              <a:rPr lang="zh-CN" altLang="en-US" sz="4850" b="1" i="0" cap="none" spc="0" dirty="0">
                <a:ln w="0"/>
                <a:solidFill>
                  <a:srgbClr val="C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指正！</a:t>
            </a:r>
            <a:endParaRPr lang="zh-CN" altLang="en-US" sz="4850" b="1" i="0" cap="none" spc="0" dirty="0">
              <a:ln w="0"/>
              <a:solidFill>
                <a:srgbClr val="C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9541" y="3618757"/>
            <a:ext cx="3482340" cy="2538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答辩人： </a:t>
            </a:r>
            <a:r>
              <a:rPr lang="en-US" altLang="zh-CN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颜久鹏</a:t>
            </a:r>
            <a:endParaRPr lang="en-US" altLang="zh-CN" sz="2645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学号：</a:t>
            </a:r>
            <a:r>
              <a:rPr lang="en-US" altLang="zh-CN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645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U202210718</a:t>
            </a:r>
            <a:endParaRPr lang="en-US" altLang="zh-CN" sz="2645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专业：   光电信息工程</a:t>
            </a:r>
            <a:endParaRPr lang="en-US" altLang="zh-CN" sz="2645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日期：</a:t>
            </a:r>
            <a:r>
              <a:rPr lang="en-US" altLang="zh-CN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645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645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2025.12.15</a:t>
            </a:r>
            <a:endParaRPr lang="en-US" altLang="zh-CN" sz="2645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6.0953543307087,&quot;left&quot;:117,&quot;top&quot;:240.2,&quot;width&quot;:670.3865354330708}"/>
</p:tagLst>
</file>

<file path=ppt/tags/tag2.xml><?xml version="1.0" encoding="utf-8"?>
<p:tagLst xmlns:p="http://schemas.openxmlformats.org/presentationml/2006/main">
  <p:tag name="KSO_WM_DIAGRAM_VIRTUALLY_FRAME" val="{&quot;height&quot;:206.0953543307087,&quot;left&quot;:117,&quot;top&quot;:240.2,&quot;width&quot;:670.3865354330708}"/>
</p:tagLst>
</file>

<file path=ppt/tags/tag3.xml><?xml version="1.0" encoding="utf-8"?>
<p:tagLst xmlns:p="http://schemas.openxmlformats.org/presentationml/2006/main">
  <p:tag name="KSO_WM_DIAGRAM_VIRTUALLY_FRAME" val="{&quot;height&quot;:206.0953543307087,&quot;left&quot;:117,&quot;top&quot;:240.2,&quot;width&quot;:670.3865354330708}"/>
</p:tagLst>
</file>

<file path=ppt/tags/tag4.xml><?xml version="1.0" encoding="utf-8"?>
<p:tagLst xmlns:p="http://schemas.openxmlformats.org/presentationml/2006/main">
  <p:tag name="KSO_WM_DIAGRAM_VIRTUALLY_FRAME" val="{&quot;height&quot;:206.0953543307087,&quot;left&quot;:117,&quot;top&quot;:240.2,&quot;width&quot;:670.3865354330708}"/>
</p:tagLst>
</file>

<file path=ppt/tags/tag5.xml><?xml version="1.0" encoding="utf-8"?>
<p:tagLst xmlns:p="http://schemas.openxmlformats.org/presentationml/2006/main">
  <p:tag name="KSO_WM_DIAGRAM_VIRTUALLY_FRAME" val="{&quot;height&quot;:259.2,&quot;left&quot;:28.8,&quot;top&quot;:72,&quot;width&quot;:662.4}"/>
</p:tagLst>
</file>

<file path=ppt/tags/tag6.xml><?xml version="1.0" encoding="utf-8"?>
<p:tagLst xmlns:p="http://schemas.openxmlformats.org/presentationml/2006/main">
  <p:tag name="KSO_WM_DIAGRAM_VIRTUALLY_FRAME" val="{&quot;height&quot;:259.2,&quot;left&quot;:28.8,&quot;top&quot;:72,&quot;width&quot;:662.4}"/>
</p:tagLst>
</file>

<file path=ppt/tags/tag7.xml><?xml version="1.0" encoding="utf-8"?>
<p:tagLst xmlns:p="http://schemas.openxmlformats.org/presentationml/2006/main">
  <p:tag name="KSO_WM_DIAGRAM_VIRTUALLY_FRAME" val="{&quot;height&quot;:259.2,&quot;left&quot;:28.8,&quot;top&quot;:72,&quot;width&quot;:662.4}"/>
</p:tagLst>
</file>

<file path=ppt/tags/tag8.xml><?xml version="1.0" encoding="utf-8"?>
<p:tagLst xmlns:p="http://schemas.openxmlformats.org/presentationml/2006/main">
  <p:tag name="KSO_WM_DIAGRAM_VIRTUALLY_FRAME" val="{&quot;height&quot;:259.2,&quot;left&quot;:28.8,&quot;top&quot;:72,&quot;width&quot;:662.4}"/>
</p:tagLst>
</file>

<file path=ppt/tags/tag9.xml><?xml version="1.0" encoding="utf-8"?>
<p:tagLst xmlns:p="http://schemas.openxmlformats.org/presentationml/2006/main">
  <p:tag name="KSO_WM_DIAGRAM_VIRTUALLY_FRAME" val="{&quot;height&quot;:259.2,&quot;left&quot;:28.8,&quot;top&quot;:72,&quot;width&quot;:662.4}"/>
</p:tagLst>
</file>

<file path=ppt/tags/tag10.xml><?xml version="1.0" encoding="utf-8"?>
<p:tagLst xmlns:p="http://schemas.openxmlformats.org/presentationml/2006/main">
  <p:tag name="KSO_WM_DIAGRAM_VIRTUALLY_FRAME" val="{&quot;height&quot;:259.2,&quot;left&quot;:28.8,&quot;top&quot;:72,&quot;width&quot;:662.4}"/>
</p:tagLst>
</file>

<file path=ppt/tags/tag11.xml><?xml version="1.0" encoding="utf-8"?>
<p:tagLst xmlns:p="http://schemas.openxmlformats.org/presentationml/2006/main">
  <p:tag name="KSO_WM_DIAGRAM_VIRTUALLY_FRAME" val="{&quot;height&quot;:324,&quot;left&quot;:36,&quot;top&quot;:108,&quot;width&quot;:885.6}"/>
</p:tagLst>
</file>

<file path=ppt/tags/tag12.xml><?xml version="1.0" encoding="utf-8"?>
<p:tagLst xmlns:p="http://schemas.openxmlformats.org/presentationml/2006/main">
  <p:tag name="KSO_WM_DIAGRAM_VIRTUALLY_FRAME" val="{&quot;height&quot;:324,&quot;left&quot;:36,&quot;top&quot;:108,&quot;width&quot;:885.6}"/>
</p:tagLst>
</file>

<file path=ppt/tags/tag13.xml><?xml version="1.0" encoding="utf-8"?>
<p:tagLst xmlns:p="http://schemas.openxmlformats.org/presentationml/2006/main">
  <p:tag name="KSO_WM_DIAGRAM_VIRTUALLY_FRAME" val="{&quot;height&quot;:324,&quot;left&quot;:36,&quot;top&quot;:108,&quot;width&quot;:885.6}"/>
</p:tagLst>
</file>

<file path=ppt/tags/tag14.xml><?xml version="1.0" encoding="utf-8"?>
<p:tagLst xmlns:p="http://schemas.openxmlformats.org/presentationml/2006/main">
  <p:tag name="KSO_WM_DIAGRAM_VIRTUALLY_FRAME" val="{&quot;height&quot;:324,&quot;left&quot;:36,&quot;top&quot;:108,&quot;width&quot;:885.6}"/>
</p:tagLst>
</file>

<file path=ppt/tags/tag15.xml><?xml version="1.0" encoding="utf-8"?>
<p:tagLst xmlns:p="http://schemas.openxmlformats.org/presentationml/2006/main">
  <p:tag name="KSO_WM_DIAGRAM_VIRTUALLY_FRAME" val="{&quot;height&quot;:324,&quot;left&quot;:36,&quot;top&quot;:108,&quot;width&quot;:885.6}"/>
</p:tagLst>
</file>

<file path=ppt/tags/tag16.xml><?xml version="1.0" encoding="utf-8"?>
<p:tagLst xmlns:p="http://schemas.openxmlformats.org/presentationml/2006/main">
  <p:tag name="KSO_WM_DIAGRAM_VIRTUALLY_FRAME" val="{&quot;height&quot;:363.6,&quot;left&quot;:36,&quot;top&quot;:129.6,&quot;width&quot;:885.6}"/>
</p:tagLst>
</file>

<file path=ppt/tags/tag17.xml><?xml version="1.0" encoding="utf-8"?>
<p:tagLst xmlns:p="http://schemas.openxmlformats.org/presentationml/2006/main">
  <p:tag name="KSO_WM_DIAGRAM_VIRTUALLY_FRAME" val="{&quot;height&quot;:363.6,&quot;left&quot;:36,&quot;top&quot;:129.6,&quot;width&quot;:885.6}"/>
</p:tagLst>
</file>

<file path=ppt/tags/tag18.xml><?xml version="1.0" encoding="utf-8"?>
<p:tagLst xmlns:p="http://schemas.openxmlformats.org/presentationml/2006/main">
  <p:tag name="KSO_WM_DIAGRAM_VIRTUALLY_FRAME" val="{&quot;height&quot;:363.6,&quot;left&quot;:36,&quot;top&quot;:129.6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WPS 演示</Application>
  <PresentationFormat>自定义</PresentationFormat>
  <Paragraphs>158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黑体</vt:lpstr>
      <vt:lpstr>Times New Roman</vt:lpstr>
      <vt:lpstr>楷体</vt:lpstr>
      <vt:lpstr>Cambria Math</vt:lpstr>
      <vt:lpstr>微软雅黑</vt:lpstr>
      <vt:lpstr>华文楷体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高速高效率 Ge-on-Si PIN 探测器设计方案</dc:title>
  <dc:creator>陈利</dc:creator>
  <cp:lastModifiedBy>十堰实践队</cp:lastModifiedBy>
  <cp:revision>28</cp:revision>
  <dcterms:created xsi:type="dcterms:W3CDTF">2025-12-14T10:43:00Z</dcterms:created>
  <dcterms:modified xsi:type="dcterms:W3CDTF">2025-12-22T08:17:45Z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2025-12-16T18:12:48Z</vt:filetime>
  </property>
  <property fmtid="{D5CDD505-2E9C-101B-9397-08002B2CF9AE}" pid="4" name="ICV">
    <vt:lpwstr>01FD37537C8248FDB19B264E305C4588_13</vt:lpwstr>
  </property>
  <property fmtid="{D5CDD505-2E9C-101B-9397-08002B2CF9AE}" pid="5" name="KSOProductBuildVer">
    <vt:lpwstr>2052-12.1.0.23542</vt:lpwstr>
  </property>
</Properties>
</file>